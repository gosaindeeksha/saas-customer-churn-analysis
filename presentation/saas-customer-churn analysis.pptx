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6FB1"/>
    <a:srgbClr val="DDAED3"/>
    <a:srgbClr val="213C51"/>
    <a:srgbClr val="6594B1"/>
    <a:srgbClr val="BA5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7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0T15:31:42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D30F-C54D-CD01-FB71-2FEBACF16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058F0-4004-5C7B-F381-8E0663212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40E5D-B175-A9AD-4343-9F64088A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D3CCF-094E-E5A5-64CD-90AB049B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7C2E5-165C-5007-F2B1-A780CF32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559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08CF-6960-68AB-BCD5-97E3269E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1B35D-2FB1-29ED-68A6-F72912A54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D25A-36B4-D17B-B6FB-F18EE44A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7439-7B1D-A63F-A7C7-0329696D3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A7176-10E4-4CFD-1FFE-8EAD1A2F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43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964C-E391-196B-7F87-34ACF197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D8817-70D4-4A43-8EAF-7AC2E589E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78D29-9B5B-08E3-61C4-57AFA498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FFC01-2D9E-0F8A-957F-2B461AC1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99AF2-7261-451A-33BC-3DEDF6B0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692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74A8-BDAD-C6E3-23C7-77127235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72315-3140-A5D2-9F30-154AED027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0E3D0-8C98-4458-A483-C7B88749E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B549C-3234-AB8D-C508-2D488DD30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1AAEA-6918-806B-8B14-7972AB66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5F4D5-00F5-AD76-8910-7C068236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25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5C64-E538-D6D1-C64A-CB37F123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050F1-E11D-FC8D-4AA2-1AB1F0EF1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8836C-99DF-5735-B048-F284112F9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94A50-4DB6-51AB-C512-9858F2EDF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027DC-332A-1968-5D87-C1749A95E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598EC-2B94-A2EC-FDCD-8D5A5E4A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F882A-1246-7732-577F-96D6FBEA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0F8A1C-1F14-F0FF-80E0-84230469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00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2B1B-49DE-8D50-1556-64DE5773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96908B-E005-0658-624D-0899C6299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21C75-5E30-071C-A44F-08C024AC8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AB36E-7C56-1783-0D41-20AD727E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049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8BA32-087A-2028-E9D5-3865731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D4667-8E76-73DF-0D72-88E45921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73DE4-70B4-2DF9-405C-21007546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959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9E19-6466-94D0-2485-BA2D29CB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756B-7CD5-47B3-58EF-2F2625788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38FB0-1649-2E6E-395E-8CC47E2B3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7C4C9-6A4B-C79E-5BB4-C7185522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196AB-740D-D12E-845F-F4CAC5E0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D2E00-9C3E-C5DF-1DC7-4564D681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081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F749-46DA-1455-787A-E684C12D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E638B-2F3F-B875-A8D3-F7DA483B5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5CBB8-CB35-86F5-5276-FB1E91D0F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CE9AE-9F62-7AD2-324A-CDF992AC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15B8F-8F69-2824-0518-458D8D5E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E2481-FAB0-43D5-22AD-D4F9E51A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39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A7F5-DE13-1401-945B-E78732E7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E946-D572-769C-2899-E82B8F3F3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3F363-C9F2-A594-0D0C-9143C558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31E53-63C4-0C0C-D023-3F99143D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D41E4-86DE-7A56-2F27-FE9B9834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9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11C75-4BEB-D0C6-4761-C80903B77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5102D-9394-8650-1F8D-6D476F031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4738F-E8DB-1BAF-CA89-0FD04389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FD464-4BAD-4651-2745-4E2099A8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FEF7C-AF91-5EE5-3E06-42BB1DDE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080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AB32A-7ABB-7BC2-6A5E-7890812B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749A2-65F3-DBFC-5DC6-6578FA99C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87D4-CB77-70FD-CF43-96F55A95E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011A4-140B-4949-97E7-4A5FAAFEA97C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C7C45-9310-A8F5-961C-FF3E490A6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F0BD0-B7E2-3F5C-3460-F81D8CEED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ACE9C-AA0E-4E74-AD0C-B75E07866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39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microsoft.com/office/2007/relationships/hdphoto" Target="../media/hdphoto1.wdp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3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40CE1D-D66E-C4FA-66D1-CEFC98ACC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012" y="0"/>
            <a:ext cx="10282484" cy="3058290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213C51"/>
                </a:solidFill>
              </a:rPr>
              <a:t>SaaS Customer Churn Analysis &amp; Retention Experiment Design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D5C66EC-384F-4518-1D76-076F44FE5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906" y="4205629"/>
            <a:ext cx="4791263" cy="505518"/>
          </a:xfrm>
          <a:noFill/>
        </p:spPr>
        <p:txBody>
          <a:bodyPr/>
          <a:lstStyle/>
          <a:p>
            <a:r>
              <a:rPr lang="en-US" dirty="0">
                <a:solidFill>
                  <a:srgbClr val="6594B1"/>
                </a:solidFill>
              </a:rPr>
              <a:t>Created by - Deeksha Gosain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321FF45-75CB-5747-4BC7-32B408622371}"/>
              </a:ext>
            </a:extLst>
          </p:cNvPr>
          <p:cNvSpPr txBox="1">
            <a:spLocks/>
          </p:cNvSpPr>
          <p:nvPr/>
        </p:nvSpPr>
        <p:spPr>
          <a:xfrm>
            <a:off x="630460" y="3058290"/>
            <a:ext cx="7903940" cy="50551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6594B1"/>
                </a:solidFill>
              </a:rPr>
              <a:t>Behavioral Analysis, Product Friction, and Risk-Based Intervention Design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97243E-D072-E61A-BFEC-78005DB63E6C}"/>
              </a:ext>
            </a:extLst>
          </p:cNvPr>
          <p:cNvCxnSpPr/>
          <p:nvPr/>
        </p:nvCxnSpPr>
        <p:spPr>
          <a:xfrm>
            <a:off x="740012" y="3700111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66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4A9D1D-CADC-0DF2-E7C7-7186A55F49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20000" contras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2122058-95D6-6E87-2AF5-A304E32C189E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dirty="0">
                <a:solidFill>
                  <a:srgbClr val="213C51"/>
                </a:solidFill>
              </a:rPr>
              <a:t>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67D8BA-3BE4-0A6B-85C6-53F39C03966B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C36FB1"/>
                </a:solidFill>
              </a:rPr>
              <a:t>Executive Summary</a:t>
            </a:r>
          </a:p>
          <a:p>
            <a:r>
              <a:rPr lang="en-US" sz="2200" dirty="0">
                <a:solidFill>
                  <a:srgbClr val="C36FB1"/>
                </a:solidFill>
              </a:rPr>
              <a:t>Introduction</a:t>
            </a:r>
          </a:p>
          <a:p>
            <a:r>
              <a:rPr lang="en-US" sz="2200" dirty="0">
                <a:solidFill>
                  <a:srgbClr val="C36FB1"/>
                </a:solidFill>
              </a:rPr>
              <a:t>Methodology</a:t>
            </a:r>
          </a:p>
          <a:p>
            <a:r>
              <a:rPr lang="en-US" sz="2200" dirty="0">
                <a:solidFill>
                  <a:srgbClr val="C36FB1"/>
                </a:solidFill>
              </a:rPr>
              <a:t>Results</a:t>
            </a: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Visualization – Charts</a:t>
            </a: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Dashboard</a:t>
            </a:r>
          </a:p>
          <a:p>
            <a:r>
              <a:rPr lang="en-US" sz="2200" dirty="0">
                <a:solidFill>
                  <a:srgbClr val="C36FB1"/>
                </a:solidFill>
              </a:rPr>
              <a:t>Discussion</a:t>
            </a: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Findings &amp; Implications</a:t>
            </a:r>
          </a:p>
          <a:p>
            <a:r>
              <a:rPr lang="en-US" sz="2200" dirty="0">
                <a:solidFill>
                  <a:srgbClr val="C36FB1"/>
                </a:solidFill>
              </a:rPr>
              <a:t>Conclusion</a:t>
            </a:r>
          </a:p>
          <a:p>
            <a:r>
              <a:rPr lang="en-US" sz="2200" dirty="0">
                <a:solidFill>
                  <a:srgbClr val="C36FB1"/>
                </a:solidFill>
              </a:rPr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32393B-BBB2-6498-3F8E-972DF89DB6B6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32393B-BBB2-6498-3F8E-972DF89DB6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ED7FB0-957D-A230-5CE9-0F8149F7236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ED7FB0-957D-A230-5CE9-0F8149F723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18F1F91-C595-0D86-1436-0AEF2EFB77A8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18F1F91-C595-0D86-1436-0AEF2EFB77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D1C8499-AC09-FB18-AEA8-D0FCB18DC903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D1C8499-AC09-FB18-AEA8-D0FCB18DC9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6EDF97B-E9F1-E19B-372B-DF6D3C3D0F57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6EDF97B-E9F1-E19B-372B-DF6D3C3D0F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93002B4-1990-D6F5-6B19-1146242B4681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93002B4-1990-D6F5-6B19-1146242B46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E591168-A730-A917-FE26-9E9B52696A3F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E591168-A730-A917-FE26-9E9B52696A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920AC30-3386-15EA-DE21-92A05587324C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920AC30-3386-15EA-DE21-92A0558732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D58B979-6316-BCD7-F953-80B3F64C5C75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D58B979-6316-BCD7-F953-80B3F64C5C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1A72FE-B50B-3A8C-D0F8-C2ACB9A76FF3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003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0899-7453-7590-6B49-69F0BE5C48B6}"/>
              </a:ext>
            </a:extLst>
          </p:cNvPr>
          <p:cNvSpPr txBox="1">
            <a:spLocks/>
          </p:cNvSpPr>
          <p:nvPr/>
        </p:nvSpPr>
        <p:spPr>
          <a:xfrm>
            <a:off x="733926" y="304965"/>
            <a:ext cx="8565109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88154-3FF9-C307-F805-53B4AA370650}"/>
              </a:ext>
            </a:extLst>
          </p:cNvPr>
          <p:cNvSpPr txBox="1">
            <a:spLocks/>
          </p:cNvSpPr>
          <p:nvPr/>
        </p:nvSpPr>
        <p:spPr>
          <a:xfrm>
            <a:off x="3590594" y="1560449"/>
            <a:ext cx="8097823" cy="4992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>
              <a:solidFill>
                <a:srgbClr val="2AAAB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BE863-6A98-65B9-5FFE-460D3AE078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6013" y="2210165"/>
            <a:ext cx="3194581" cy="31945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21663B-A241-EAD1-3056-FB4DBCC5908D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CEC304C-0875-8CEA-B46E-965AE6A0D8F1}"/>
              </a:ext>
            </a:extLst>
          </p:cNvPr>
          <p:cNvSpPr txBox="1"/>
          <p:nvPr/>
        </p:nvSpPr>
        <p:spPr>
          <a:xfrm>
            <a:off x="3519474" y="1627378"/>
            <a:ext cx="83823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44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This project was conducted to diagnose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rising customer churn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 in a subscription-based SaaS product, with the objective of identifying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early churn drivers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 and enabling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targeted retention interventions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.</a:t>
            </a:r>
          </a:p>
          <a:p>
            <a:pPr marL="285750" indent="-2844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Customer churn increased sharply starting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early 2024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, signaling a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structural retention issue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 rather than random attrition.</a:t>
            </a:r>
          </a:p>
          <a:p>
            <a:pPr marL="285750" indent="-2844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Cohort analysis revealed a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steep retention drop within the first 1–3 months after signup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, leading to the definition of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early churn as churn within the first 90 days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.</a:t>
            </a:r>
          </a:p>
          <a:p>
            <a:pPr marL="285750" indent="-2844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Behavioral analysis uncovered a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counterintuitive pattern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: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highly engaged trial users churned more than low-engagement users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.</a:t>
            </a:r>
          </a:p>
          <a:p>
            <a:pPr marL="285750" indent="-2844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Further investigation showed churn was driven by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product friction (early-life errors)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 rather than lack of activation or usage.</a:t>
            </a:r>
          </a:p>
          <a:p>
            <a:pPr marL="285750" indent="-2844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A churn risk model identified - a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high-risk segment with ~70% early churn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, compared to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~21% early churn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 among lower-risk users.</a:t>
            </a:r>
          </a:p>
          <a:p>
            <a:pPr marL="285750" indent="-2844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Overall, results indicate that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early churn is primarily a product experience and reliability problem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, making </a:t>
            </a:r>
            <a:r>
              <a:rPr lang="en-US" sz="1600" b="1" dirty="0">
                <a:solidFill>
                  <a:srgbClr val="C36FB1"/>
                </a:solidFill>
                <a:latin typeface="Ibm plex sans" panose="020B0503050203000203" pitchFamily="34" charset="0"/>
              </a:rPr>
              <a:t>error reduction during early usage</a:t>
            </a:r>
            <a:r>
              <a:rPr lang="en-US" sz="1600" dirty="0">
                <a:solidFill>
                  <a:srgbClr val="C36FB1"/>
                </a:solidFill>
                <a:latin typeface="Ibm plex sans" panose="020B0503050203000203" pitchFamily="34" charset="0"/>
              </a:rPr>
              <a:t> the highest-impact retention lever.</a:t>
            </a:r>
          </a:p>
        </p:txBody>
      </p:sp>
    </p:spTree>
    <p:extLst>
      <p:ext uri="{BB962C8B-B14F-4D97-AF65-F5344CB8AC3E}">
        <p14:creationId xmlns:p14="http://schemas.microsoft.com/office/powerpoint/2010/main" val="308726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AD65-44B8-9CDD-E6CE-9FD65A8A0633}"/>
              </a:ext>
            </a:extLst>
          </p:cNvPr>
          <p:cNvSpPr txBox="1">
            <a:spLocks/>
          </p:cNvSpPr>
          <p:nvPr/>
        </p:nvSpPr>
        <p:spPr>
          <a:xfrm>
            <a:off x="770021" y="365125"/>
            <a:ext cx="7647865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7666B1-1574-CEE9-1BC8-93968DA5F3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1830" y="2262036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56F16D-367A-E482-C836-6E1839A3D3E0}"/>
              </a:ext>
            </a:extLst>
          </p:cNvPr>
          <p:cNvSpPr txBox="1">
            <a:spLocks/>
          </p:cNvSpPr>
          <p:nvPr/>
        </p:nvSpPr>
        <p:spPr>
          <a:xfrm>
            <a:off x="3825834" y="1490873"/>
            <a:ext cx="8049791" cy="5178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800" dirty="0">
                <a:solidFill>
                  <a:srgbClr val="C36FB1"/>
                </a:solidFill>
              </a:rPr>
              <a:t>This project analyzes </a:t>
            </a:r>
            <a:r>
              <a:rPr lang="en-US" sz="1800" b="1" dirty="0">
                <a:solidFill>
                  <a:srgbClr val="C36FB1"/>
                </a:solidFill>
              </a:rPr>
              <a:t>SaaS Subscription &amp; Churn Analytics Dataset (Kaggle)</a:t>
            </a:r>
            <a:r>
              <a:rPr lang="en-US" sz="1800" dirty="0">
                <a:solidFill>
                  <a:srgbClr val="C36FB1"/>
                </a:solidFill>
              </a:rPr>
              <a:t>,a synthetic dataset representing a subscription-based software company with customer accounts, subscriptions, churn and product usage data.</a:t>
            </a:r>
          </a:p>
          <a:p>
            <a:r>
              <a:rPr lang="en-US" sz="1800" dirty="0">
                <a:solidFill>
                  <a:srgbClr val="C36FB1"/>
                </a:solidFill>
              </a:rPr>
              <a:t>The project is guided by three core analytical questions:</a:t>
            </a:r>
          </a:p>
          <a:p>
            <a:pPr lvl="1"/>
            <a:r>
              <a:rPr lang="en-US" sz="1700" b="1" dirty="0">
                <a:solidFill>
                  <a:srgbClr val="C36FB1"/>
                </a:solidFill>
              </a:rPr>
              <a:t>Is customer churn worsening over time, and is the increase structural rather than random?</a:t>
            </a:r>
            <a:endParaRPr lang="en-US" sz="1700" dirty="0">
              <a:solidFill>
                <a:srgbClr val="C36FB1"/>
              </a:solidFill>
            </a:endParaRPr>
          </a:p>
          <a:p>
            <a:pPr lvl="1"/>
            <a:r>
              <a:rPr lang="en-US" sz="1700" b="1" dirty="0">
                <a:solidFill>
                  <a:srgbClr val="C36FB1"/>
                </a:solidFill>
              </a:rPr>
              <a:t>When in the customer lifecycle does churn primarily occur, based on signup cohorts?</a:t>
            </a:r>
            <a:endParaRPr lang="en-US" sz="1700" dirty="0">
              <a:solidFill>
                <a:srgbClr val="C36FB1"/>
              </a:solidFill>
            </a:endParaRPr>
          </a:p>
          <a:p>
            <a:pPr lvl="1"/>
            <a:r>
              <a:rPr lang="en-US" sz="1700" b="1" dirty="0">
                <a:solidFill>
                  <a:srgbClr val="C36FB1"/>
                </a:solidFill>
              </a:rPr>
              <a:t>Which early behavioral signals (engagement and product friction) are associated with early churn?</a:t>
            </a:r>
            <a:endParaRPr lang="en-US" sz="1700" dirty="0">
              <a:solidFill>
                <a:srgbClr val="C36FB1"/>
              </a:solidFill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800" dirty="0">
                <a:solidFill>
                  <a:srgbClr val="C36FB1"/>
                </a:solidFill>
              </a:rPr>
              <a:t>The goal of the analysis is to move from high-level churn metrics to </a:t>
            </a:r>
            <a:r>
              <a:rPr lang="en-US" sz="1800" b="1" dirty="0">
                <a:solidFill>
                  <a:srgbClr val="C36FB1"/>
                </a:solidFill>
              </a:rPr>
              <a:t>behavior-driven insights</a:t>
            </a:r>
            <a:r>
              <a:rPr lang="en-US" sz="1800" dirty="0">
                <a:solidFill>
                  <a:srgbClr val="C36FB1"/>
                </a:solidFill>
              </a:rPr>
              <a:t> that explain </a:t>
            </a:r>
            <a:r>
              <a:rPr lang="en-US" sz="1800" i="1" dirty="0">
                <a:solidFill>
                  <a:srgbClr val="C36FB1"/>
                </a:solidFill>
              </a:rPr>
              <a:t>why</a:t>
            </a:r>
            <a:r>
              <a:rPr lang="en-US" sz="1800" dirty="0">
                <a:solidFill>
                  <a:srgbClr val="C36FB1"/>
                </a:solidFill>
              </a:rPr>
              <a:t> customers churn and </a:t>
            </a:r>
            <a:r>
              <a:rPr lang="en-US" sz="1800" i="1" dirty="0">
                <a:solidFill>
                  <a:srgbClr val="C36FB1"/>
                </a:solidFill>
              </a:rPr>
              <a:t>who</a:t>
            </a:r>
            <a:r>
              <a:rPr lang="en-US" sz="1800" dirty="0">
                <a:solidFill>
                  <a:srgbClr val="C36FB1"/>
                </a:solidFill>
              </a:rPr>
              <a:t> should be prioritized for retention efforts.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800" dirty="0">
                <a:solidFill>
                  <a:srgbClr val="C36FB1"/>
                </a:solidFill>
              </a:rPr>
              <a:t>The findings demonstrate how combining </a:t>
            </a:r>
            <a:r>
              <a:rPr lang="en-US" sz="1800" b="1" dirty="0">
                <a:solidFill>
                  <a:srgbClr val="C36FB1"/>
                </a:solidFill>
              </a:rPr>
              <a:t>cohort analysis, behavioral feature engineering, and churn risk modeling</a:t>
            </a:r>
            <a:r>
              <a:rPr lang="en-US" sz="1800" dirty="0">
                <a:solidFill>
                  <a:srgbClr val="C36FB1"/>
                </a:solidFill>
              </a:rPr>
              <a:t> can translate raw subscription and usage data into </a:t>
            </a:r>
            <a:r>
              <a:rPr lang="en-US" sz="1800" b="1" dirty="0">
                <a:solidFill>
                  <a:srgbClr val="C36FB1"/>
                </a:solidFill>
              </a:rPr>
              <a:t>actionable retention strategy and experiment design insights </a:t>
            </a:r>
            <a:r>
              <a:rPr lang="en-US" sz="1800" dirty="0">
                <a:solidFill>
                  <a:srgbClr val="C36FB1"/>
                </a:solidFill>
              </a:rPr>
              <a:t>for a SaaS business.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613DAB-7D04-201C-7B70-D8EDA42D112E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488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6FE90-A6C8-4DE6-C4E5-B5539B41E8B2}"/>
              </a:ext>
            </a:extLst>
          </p:cNvPr>
          <p:cNvSpPr txBox="1">
            <a:spLocks/>
          </p:cNvSpPr>
          <p:nvPr/>
        </p:nvSpPr>
        <p:spPr>
          <a:xfrm>
            <a:off x="782053" y="376642"/>
            <a:ext cx="7230723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BCFCF-2D27-0CC0-51EB-10D34B9BA5AB}"/>
              </a:ext>
            </a:extLst>
          </p:cNvPr>
          <p:cNvSpPr txBox="1">
            <a:spLocks/>
          </p:cNvSpPr>
          <p:nvPr/>
        </p:nvSpPr>
        <p:spPr>
          <a:xfrm>
            <a:off x="4174236" y="1498686"/>
            <a:ext cx="7397709" cy="4813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rgbClr val="C36FB1"/>
                </a:solidFill>
              </a:rPr>
              <a:t>Collection &amp; Data Preparation (SQL &amp; Python)</a:t>
            </a:r>
            <a:endParaRPr lang="en-US" sz="1700" dirty="0">
              <a:solidFill>
                <a:srgbClr val="C36FB1"/>
              </a:solidFill>
            </a:endParaRPr>
          </a:p>
          <a:p>
            <a:pPr lvl="1"/>
            <a:r>
              <a:rPr lang="en-US" sz="1700" dirty="0">
                <a:solidFill>
                  <a:srgbClr val="C36FB1"/>
                </a:solidFill>
              </a:rPr>
              <a:t>Used the SaaS Subscription &amp; Churn Analytics Dataset (Kaggle) and loaded it into SQLite database</a:t>
            </a:r>
          </a:p>
          <a:p>
            <a:pPr lvl="1"/>
            <a:r>
              <a:rPr lang="en-US" sz="1700" dirty="0">
                <a:solidFill>
                  <a:srgbClr val="C36FB1"/>
                </a:solidFill>
              </a:rPr>
              <a:t>Created SQL views to serve as a single source of truth for churn KPIs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C36FB1"/>
                </a:solidFill>
              </a:rPr>
              <a:t>2. Exploratory Data Analysis</a:t>
            </a:r>
            <a:endParaRPr lang="en-US" sz="1700" dirty="0">
              <a:solidFill>
                <a:srgbClr val="C36FB1"/>
              </a:solidFill>
            </a:endParaRPr>
          </a:p>
          <a:p>
            <a:pPr lvl="1"/>
            <a:r>
              <a:rPr lang="en-US" sz="1700" dirty="0">
                <a:solidFill>
                  <a:srgbClr val="C36FB1"/>
                </a:solidFill>
              </a:rPr>
              <a:t>Analyzed monthly churn trends and active account growth</a:t>
            </a:r>
          </a:p>
          <a:p>
            <a:pPr lvl="1"/>
            <a:r>
              <a:rPr lang="en-US" sz="1700" dirty="0">
                <a:solidFill>
                  <a:srgbClr val="C36FB1"/>
                </a:solidFill>
              </a:rPr>
              <a:t>Examined churn distribution by trial status, industry, and geography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C36FB1"/>
                </a:solidFill>
              </a:rPr>
              <a:t>3. Cohort Analysis</a:t>
            </a:r>
            <a:endParaRPr lang="en-US" sz="1700" dirty="0">
              <a:solidFill>
                <a:srgbClr val="C36FB1"/>
              </a:solidFill>
            </a:endParaRPr>
          </a:p>
          <a:p>
            <a:pPr lvl="1"/>
            <a:r>
              <a:rPr lang="en-US" sz="1700" dirty="0">
                <a:solidFill>
                  <a:srgbClr val="C36FB1"/>
                </a:solidFill>
              </a:rPr>
              <a:t>Built signup-month cohorts to analyze retention over time</a:t>
            </a:r>
          </a:p>
          <a:p>
            <a:pPr lvl="1"/>
            <a:r>
              <a:rPr lang="en-US" sz="1700" dirty="0">
                <a:solidFill>
                  <a:srgbClr val="C36FB1"/>
                </a:solidFill>
              </a:rPr>
              <a:t>Used retention heatmaps to identify early lifecycle drop-offs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C36FB1"/>
                </a:solidFill>
              </a:rPr>
              <a:t>4. Behavioral Feature Engineering</a:t>
            </a:r>
            <a:endParaRPr lang="en-US" sz="1700" dirty="0">
              <a:solidFill>
                <a:srgbClr val="C36FB1"/>
              </a:solidFill>
            </a:endParaRPr>
          </a:p>
          <a:p>
            <a:pPr lvl="1"/>
            <a:r>
              <a:rPr lang="en-US" sz="1700" dirty="0">
                <a:solidFill>
                  <a:srgbClr val="C36FB1"/>
                </a:solidFill>
              </a:rPr>
              <a:t>Engineered early-life behavioral metrics (first 30 days):</a:t>
            </a:r>
          </a:p>
          <a:p>
            <a:pPr lvl="2"/>
            <a:r>
              <a:rPr lang="en-US" sz="1700" dirty="0">
                <a:solidFill>
                  <a:srgbClr val="C36FB1"/>
                </a:solidFill>
              </a:rPr>
              <a:t>Engagement (active days, usage events, features used)</a:t>
            </a:r>
          </a:p>
          <a:p>
            <a:pPr lvl="2"/>
            <a:r>
              <a:rPr lang="en-US" sz="1700" dirty="0">
                <a:solidFill>
                  <a:srgbClr val="C36FB1"/>
                </a:solidFill>
              </a:rPr>
              <a:t>Friction (error counts, errors per active day)</a:t>
            </a:r>
          </a:p>
          <a:p>
            <a:pPr lvl="1"/>
            <a:r>
              <a:rPr lang="en-US" sz="1700" dirty="0">
                <a:solidFill>
                  <a:srgbClr val="C36FB1"/>
                </a:solidFill>
              </a:rPr>
              <a:t>Segmented users into activation-based behavioral cohorts</a:t>
            </a:r>
          </a:p>
          <a:p>
            <a:pPr marL="0" indent="0">
              <a:buNone/>
            </a:pPr>
            <a:endParaRPr lang="en-US" sz="1500" dirty="0">
              <a:solidFill>
                <a:srgbClr val="C36FB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81E06-F102-A450-6BC9-170B6DA929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2F192F-7281-F12A-3B89-02AEBD0DE312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83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2D032-1493-ACA3-242B-32BF140309AD}"/>
              </a:ext>
            </a:extLst>
          </p:cNvPr>
          <p:cNvSpPr txBox="1">
            <a:spLocks/>
          </p:cNvSpPr>
          <p:nvPr/>
        </p:nvSpPr>
        <p:spPr>
          <a:xfrm>
            <a:off x="782053" y="376642"/>
            <a:ext cx="7230723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1FACF-E49D-AF33-8C11-2C0AEE89D27F}"/>
              </a:ext>
            </a:extLst>
          </p:cNvPr>
          <p:cNvSpPr txBox="1">
            <a:spLocks/>
          </p:cNvSpPr>
          <p:nvPr/>
        </p:nvSpPr>
        <p:spPr>
          <a:xfrm>
            <a:off x="4341222" y="1667651"/>
            <a:ext cx="7068725" cy="4813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C36FB1"/>
                </a:solidFill>
              </a:rPr>
              <a:t>5. Churn Risk Modeling</a:t>
            </a:r>
            <a:endParaRPr lang="en-US" sz="1800" dirty="0">
              <a:solidFill>
                <a:srgbClr val="C36FB1"/>
              </a:solidFill>
            </a:endParaRP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Trained an interpretable logistic regression model using early behavioral features</a:t>
            </a: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Generated churn risk scores to rank users by early churn likelihood</a:t>
            </a: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Evaluated separation between high-risk and low-risk user segments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36FB1"/>
                </a:solidFill>
              </a:rPr>
              <a:t>6. Experiment &amp; Dashboard Design</a:t>
            </a:r>
            <a:endParaRPr lang="en-US" sz="1800" dirty="0">
              <a:solidFill>
                <a:srgbClr val="C36FB1"/>
              </a:solidFill>
            </a:endParaRP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Designed a targeted A/B testing framework focused on high-risk trial users</a:t>
            </a: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Defined success metrics and statistical evaluation approach</a:t>
            </a:r>
          </a:p>
          <a:p>
            <a:pPr lvl="1"/>
            <a:r>
              <a:rPr lang="en-US" sz="1800" dirty="0">
                <a:solidFill>
                  <a:srgbClr val="C36FB1"/>
                </a:solidFill>
              </a:rPr>
              <a:t>Built a BI dashboard to monitor churn KPIs, cohort retention, behavioral insights, and risk segmentation</a:t>
            </a:r>
          </a:p>
          <a:p>
            <a:pPr marL="342900" indent="-342900">
              <a:buFont typeface="+mj-lt"/>
              <a:buAutoNum type="arabicPeriod"/>
            </a:pPr>
            <a:endParaRPr lang="en-US" sz="1500" dirty="0">
              <a:solidFill>
                <a:srgbClr val="C36FB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6880B-E427-3CFA-4346-5F9661A3EB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7DA466-5AA6-C9FB-4652-5E70ED113658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90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34D26B-A483-07D3-840D-78B4E40003DA}"/>
              </a:ext>
            </a:extLst>
          </p:cNvPr>
          <p:cNvSpPr txBox="1">
            <a:spLocks/>
          </p:cNvSpPr>
          <p:nvPr/>
        </p:nvSpPr>
        <p:spPr>
          <a:xfrm>
            <a:off x="680378" y="126587"/>
            <a:ext cx="10515600" cy="94959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DASHBOARD TAB 1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1530E4-1C0E-F984-DFAE-3979E56B3465}"/>
              </a:ext>
            </a:extLst>
          </p:cNvPr>
          <p:cNvCxnSpPr/>
          <p:nvPr/>
        </p:nvCxnSpPr>
        <p:spPr>
          <a:xfrm>
            <a:off x="680378" y="996668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7C3F1B1-1D02-D39F-E4AA-3615BA479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7" y="1179264"/>
            <a:ext cx="10998329" cy="50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4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739F-A1B2-BBBC-4DE9-ED8C93B5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09CFDF6-18E1-3478-C810-A63AF6A9E106}"/>
              </a:ext>
            </a:extLst>
          </p:cNvPr>
          <p:cNvSpPr txBox="1">
            <a:spLocks/>
          </p:cNvSpPr>
          <p:nvPr/>
        </p:nvSpPr>
        <p:spPr>
          <a:xfrm>
            <a:off x="680378" y="126587"/>
            <a:ext cx="10515600" cy="94959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DASHBOARD TAB 2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F31B18-AB71-B1C1-D9B6-73270AED401B}"/>
              </a:ext>
            </a:extLst>
          </p:cNvPr>
          <p:cNvCxnSpPr/>
          <p:nvPr/>
        </p:nvCxnSpPr>
        <p:spPr>
          <a:xfrm>
            <a:off x="680378" y="996668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3F640B0-5658-01A4-BD42-C722EEB0D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04" y="1088586"/>
            <a:ext cx="10585174" cy="564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1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37EA8-7144-FA7E-BA89-20D21EF4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62F1B3-A830-9199-E024-5ABF345BD47A}"/>
              </a:ext>
            </a:extLst>
          </p:cNvPr>
          <p:cNvSpPr txBox="1">
            <a:spLocks/>
          </p:cNvSpPr>
          <p:nvPr/>
        </p:nvSpPr>
        <p:spPr>
          <a:xfrm>
            <a:off x="680378" y="126587"/>
            <a:ext cx="10515600" cy="94959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DASHBOARD TAB 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6D789A-3D40-A3E3-5B5E-E89DFEB98718}"/>
              </a:ext>
            </a:extLst>
          </p:cNvPr>
          <p:cNvCxnSpPr/>
          <p:nvPr/>
        </p:nvCxnSpPr>
        <p:spPr>
          <a:xfrm>
            <a:off x="680378" y="996668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EEE485F-03E5-CE5A-1E28-354A1AD45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78" y="1076181"/>
            <a:ext cx="10428258" cy="547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9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B352-56E1-4F99-E154-0EF25879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2E7CDA-5706-2665-4040-78B6FFBFECB6}"/>
              </a:ext>
            </a:extLst>
          </p:cNvPr>
          <p:cNvSpPr txBox="1">
            <a:spLocks/>
          </p:cNvSpPr>
          <p:nvPr/>
        </p:nvSpPr>
        <p:spPr>
          <a:xfrm>
            <a:off x="680378" y="126587"/>
            <a:ext cx="10515600" cy="94959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DASHBOARD TAB 4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F3D926-3D64-F546-F301-59D7F694A36C}"/>
              </a:ext>
            </a:extLst>
          </p:cNvPr>
          <p:cNvCxnSpPr/>
          <p:nvPr/>
        </p:nvCxnSpPr>
        <p:spPr>
          <a:xfrm>
            <a:off x="680378" y="996668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6C1DB22-5BD5-A640-123F-9629F25F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78" y="1076181"/>
            <a:ext cx="10661791" cy="56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40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0CBA5-6B93-16D6-3755-7FFE67C5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918159-1A1C-EFED-BE9C-0B68A622906A}"/>
              </a:ext>
            </a:extLst>
          </p:cNvPr>
          <p:cNvSpPr txBox="1">
            <a:spLocks/>
          </p:cNvSpPr>
          <p:nvPr/>
        </p:nvSpPr>
        <p:spPr>
          <a:xfrm>
            <a:off x="680378" y="126587"/>
            <a:ext cx="10515600" cy="94959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DASHBOARD TAB 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5E70E1-C73A-BE35-AE1A-3E745345F67F}"/>
              </a:ext>
            </a:extLst>
          </p:cNvPr>
          <p:cNvCxnSpPr/>
          <p:nvPr/>
        </p:nvCxnSpPr>
        <p:spPr>
          <a:xfrm>
            <a:off x="680378" y="996668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AEC7BFE-2CCF-F556-FE3D-6785331C9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7" y="1076181"/>
            <a:ext cx="10915275" cy="57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59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3CC0-8557-28DC-6FAB-E1CF1EB4A7B6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890E4-366E-1A6B-3699-4854029576F0}"/>
              </a:ext>
            </a:extLst>
          </p:cNvPr>
          <p:cNvSpPr txBox="1">
            <a:spLocks/>
          </p:cNvSpPr>
          <p:nvPr/>
        </p:nvSpPr>
        <p:spPr>
          <a:xfrm>
            <a:off x="838200" y="1530830"/>
            <a:ext cx="5181600" cy="5025829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700" dirty="0">
                <a:solidFill>
                  <a:srgbClr val="6594B1"/>
                </a:solidFill>
              </a:rPr>
              <a:t>Findings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sz="3200" b="1" dirty="0">
                <a:solidFill>
                  <a:srgbClr val="C36FB1"/>
                </a:solidFill>
              </a:rPr>
              <a:t>Customer churn increased structurally over time</a:t>
            </a:r>
            <a:r>
              <a:rPr lang="en-US" sz="3200" dirty="0">
                <a:solidFill>
                  <a:srgbClr val="C36FB1"/>
                </a:solidFill>
              </a:rPr>
              <a:t>, with a sharp rise observed from early 2024 rather than random month-to-month variation.</a:t>
            </a:r>
          </a:p>
          <a:p>
            <a:r>
              <a:rPr lang="en-US" sz="3200" b="1" dirty="0">
                <a:solidFill>
                  <a:srgbClr val="C36FB1"/>
                </a:solidFill>
              </a:rPr>
              <a:t>Early churn is concentrated within the first 90 days after signup</a:t>
            </a:r>
            <a:r>
              <a:rPr lang="en-US" sz="3200" dirty="0">
                <a:solidFill>
                  <a:srgbClr val="C36FB1"/>
                </a:solidFill>
              </a:rPr>
              <a:t>, indicating that customer outcomes are largely decided early in the lifecycle.</a:t>
            </a:r>
          </a:p>
          <a:p>
            <a:r>
              <a:rPr lang="en-US" sz="3200" b="1" dirty="0">
                <a:solidFill>
                  <a:srgbClr val="C36FB1"/>
                </a:solidFill>
              </a:rPr>
              <a:t>Product friction (errors) increases with engagement intensity</a:t>
            </a:r>
            <a:r>
              <a:rPr lang="en-US" sz="3200" dirty="0">
                <a:solidFill>
                  <a:srgbClr val="C36FB1"/>
                </a:solidFill>
              </a:rPr>
              <a:t>, exposing active users to more failure points.</a:t>
            </a:r>
          </a:p>
          <a:p>
            <a:r>
              <a:rPr lang="en-US" sz="3200" b="1" dirty="0">
                <a:solidFill>
                  <a:srgbClr val="C36FB1"/>
                </a:solidFill>
              </a:rPr>
              <a:t>Behavioral cohorts based on early activation show clear churn separation</a:t>
            </a:r>
            <a:r>
              <a:rPr lang="en-US" sz="3200" dirty="0">
                <a:solidFill>
                  <a:srgbClr val="C36FB1"/>
                </a:solidFill>
              </a:rPr>
              <a:t>, outperforming static attributes such as plan tier.</a:t>
            </a:r>
          </a:p>
          <a:p>
            <a:r>
              <a:rPr lang="en-US" sz="3200" b="1" dirty="0">
                <a:solidFill>
                  <a:srgbClr val="C36FB1"/>
                </a:solidFill>
              </a:rPr>
              <a:t>Churn risk modeling identifies a high-risk segment where ~70% of users churn early</a:t>
            </a:r>
            <a:r>
              <a:rPr lang="en-US" sz="3200" dirty="0">
                <a:solidFill>
                  <a:srgbClr val="C36FB1"/>
                </a:solidFill>
              </a:rPr>
              <a:t>, compared to ~21% among lower-risk users.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005AF-8D9E-F92D-08AB-1B442DFC8AA0}"/>
              </a:ext>
            </a:extLst>
          </p:cNvPr>
          <p:cNvSpPr txBox="1">
            <a:spLocks/>
          </p:cNvSpPr>
          <p:nvPr/>
        </p:nvSpPr>
        <p:spPr>
          <a:xfrm>
            <a:off x="6096000" y="1494456"/>
            <a:ext cx="5664200" cy="5025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594B1"/>
                </a:solidFill>
              </a:rPr>
              <a:t>Implications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900" dirty="0">
              <a:solidFill>
                <a:srgbClr val="018790"/>
              </a:solidFill>
            </a:endParaRPr>
          </a:p>
          <a:p>
            <a:r>
              <a:rPr lang="en-US" sz="2000" b="1" dirty="0">
                <a:solidFill>
                  <a:srgbClr val="C36FB1"/>
                </a:solidFill>
              </a:rPr>
              <a:t>Retention efforts should prioritize early lifecycle intervention like improving onboarding quality and early lifecycle intervention</a:t>
            </a:r>
            <a:r>
              <a:rPr lang="en-US" sz="2000" dirty="0">
                <a:solidFill>
                  <a:srgbClr val="C36FB1"/>
                </a:solidFill>
              </a:rPr>
              <a:t>, rather than focusing on long-tenure customers.</a:t>
            </a:r>
          </a:p>
          <a:p>
            <a:r>
              <a:rPr lang="en-US" sz="2000" b="1" dirty="0">
                <a:solidFill>
                  <a:srgbClr val="C36FB1"/>
                </a:solidFill>
              </a:rPr>
              <a:t>Reducing early product friction is a key retention lever</a:t>
            </a:r>
            <a:r>
              <a:rPr lang="en-US" sz="2000" dirty="0">
                <a:solidFill>
                  <a:srgbClr val="C36FB1"/>
                </a:solidFill>
              </a:rPr>
              <a:t>, especially for highly engaged users.</a:t>
            </a:r>
          </a:p>
          <a:p>
            <a:r>
              <a:rPr lang="en-US" altLang="en-US" sz="2000" b="1" dirty="0">
                <a:solidFill>
                  <a:srgbClr val="C36FB1"/>
                </a:solidFill>
              </a:rPr>
              <a:t>Product experience improvements are likely to yield higher retention impact than market-level segmentation alone </a:t>
            </a:r>
          </a:p>
          <a:p>
            <a:r>
              <a:rPr lang="en-US" sz="2000" b="1" dirty="0">
                <a:solidFill>
                  <a:srgbClr val="C36FB1"/>
                </a:solidFill>
              </a:rPr>
              <a:t>Risk-based prioritization allows retention teams to focus on users with the highest churn likelihood</a:t>
            </a:r>
            <a:r>
              <a:rPr lang="en-US" sz="2000" dirty="0">
                <a:solidFill>
                  <a:srgbClr val="C36FB1"/>
                </a:solidFill>
              </a:rPr>
              <a:t>, maximizing ROI.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F4067C-67D4-0BB3-3ECF-E13D011406EF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BED04420-5000-A9FF-33CD-A81DB724F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277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B3006-F4DB-206D-1CFF-7A758343C7F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213C51"/>
                </a:solidFill>
              </a:rPr>
              <a:t>CONCLUSION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E1F90BB-7E6B-3F2F-51B2-8740EABBB1C7}"/>
              </a:ext>
            </a:extLst>
          </p:cNvPr>
          <p:cNvSpPr txBox="1">
            <a:spLocks/>
          </p:cNvSpPr>
          <p:nvPr/>
        </p:nvSpPr>
        <p:spPr>
          <a:xfrm>
            <a:off x="4328933" y="1825624"/>
            <a:ext cx="7349924" cy="477260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3600" dirty="0">
                <a:solidFill>
                  <a:srgbClr val="C36FB1"/>
                </a:solidFill>
              </a:rPr>
              <a:t>The analysis demonstrates that customer churn in this SaaS environment is driven primarily by </a:t>
            </a:r>
            <a:r>
              <a:rPr lang="en-US" sz="3600" b="1" dirty="0">
                <a:solidFill>
                  <a:srgbClr val="C36FB1"/>
                </a:solidFill>
              </a:rPr>
              <a:t>early lifecycle behavior</a:t>
            </a:r>
            <a:r>
              <a:rPr lang="en-US" sz="3600" dirty="0">
                <a:solidFill>
                  <a:srgbClr val="C36FB1"/>
                </a:solidFill>
              </a:rPr>
              <a:t>, with a significant portion of churn occurring within the first 90 days after signup rather than later in the customer journey.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solidFill>
                  <a:srgbClr val="C36FB1"/>
                </a:solidFill>
              </a:rPr>
              <a:t>Cohort and behavioral analysis reveal that churn is </a:t>
            </a:r>
            <a:r>
              <a:rPr lang="en-US" sz="3600" b="1" dirty="0">
                <a:solidFill>
                  <a:srgbClr val="C36FB1"/>
                </a:solidFill>
              </a:rPr>
              <a:t>not caused by lack of engagement</a:t>
            </a:r>
            <a:r>
              <a:rPr lang="en-US" sz="3600" dirty="0">
                <a:solidFill>
                  <a:srgbClr val="C36FB1"/>
                </a:solidFill>
              </a:rPr>
              <a:t>, but by </a:t>
            </a:r>
            <a:r>
              <a:rPr lang="en-US" sz="3600" b="1" dirty="0">
                <a:solidFill>
                  <a:srgbClr val="C36FB1"/>
                </a:solidFill>
              </a:rPr>
              <a:t>friction experienced during early product usage</a:t>
            </a:r>
            <a:r>
              <a:rPr lang="en-US" sz="3600" dirty="0">
                <a:solidFill>
                  <a:srgbClr val="C36FB1"/>
                </a:solidFill>
              </a:rPr>
              <a:t>, particularly among highly engaged trial users who encounter elevated error rates.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solidFill>
                  <a:srgbClr val="C36FB1"/>
                </a:solidFill>
              </a:rPr>
              <a:t>Risk-based segmentation shows that early churn is </a:t>
            </a:r>
            <a:r>
              <a:rPr lang="en-US" sz="3600" b="1" dirty="0">
                <a:solidFill>
                  <a:srgbClr val="C36FB1"/>
                </a:solidFill>
              </a:rPr>
              <a:t>highly concentrated within a small subset of power users</a:t>
            </a:r>
            <a:r>
              <a:rPr lang="en-US" sz="3600" dirty="0">
                <a:solidFill>
                  <a:srgbClr val="C36FB1"/>
                </a:solidFill>
              </a:rPr>
              <a:t>, enabling targeted retention efforts to be significantly more effective than broad, population-wide interventions.</a:t>
            </a:r>
          </a:p>
          <a:p>
            <a:pPr>
              <a:spcAft>
                <a:spcPts val="800"/>
              </a:spcAft>
            </a:pPr>
            <a:r>
              <a:rPr lang="en-US" sz="3600" dirty="0">
                <a:solidFill>
                  <a:srgbClr val="C36FB1"/>
                </a:solidFill>
              </a:rPr>
              <a:t>Overall, the findings highlight the value of </a:t>
            </a:r>
            <a:r>
              <a:rPr lang="en-US" sz="3600" b="1" dirty="0">
                <a:solidFill>
                  <a:srgbClr val="C36FB1"/>
                </a:solidFill>
              </a:rPr>
              <a:t>combining cohort analysis, behavioral feature engineering, and churn risk modeling</a:t>
            </a:r>
            <a:r>
              <a:rPr lang="en-US" sz="3600" dirty="0">
                <a:solidFill>
                  <a:srgbClr val="C36FB1"/>
                </a:solidFill>
              </a:rPr>
              <a:t> to move from descriptive churn metrics to </a:t>
            </a:r>
            <a:r>
              <a:rPr lang="en-US" sz="3600" b="1" dirty="0">
                <a:solidFill>
                  <a:srgbClr val="C36FB1"/>
                </a:solidFill>
              </a:rPr>
              <a:t>actionable retention strategy and experiment-driven decision-making</a:t>
            </a:r>
            <a:r>
              <a:rPr lang="en-US" sz="3600" dirty="0">
                <a:solidFill>
                  <a:srgbClr val="C36FB1"/>
                </a:solidFill>
              </a:rPr>
              <a:t> in a SaaS context.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FCB22DF2-BFA4-3F6B-2EAF-31D66273D7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8EA6F5-748F-C0FE-542F-D0F1953F44B6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DDA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501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916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Ibm plex sans</vt:lpstr>
      <vt:lpstr>Office Theme</vt:lpstr>
      <vt:lpstr>SaaS Customer Churn Analysis &amp; Retention Experiment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Deeksha Gosain</dc:creator>
  <cp:lastModifiedBy>Deeksha Gosain</cp:lastModifiedBy>
  <cp:revision>15</cp:revision>
  <dcterms:created xsi:type="dcterms:W3CDTF">2026-01-20T14:32:15Z</dcterms:created>
  <dcterms:modified xsi:type="dcterms:W3CDTF">2026-01-21T16:24:10Z</dcterms:modified>
</cp:coreProperties>
</file>